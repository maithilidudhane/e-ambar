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60" r:id="rId2"/>
    <p:sldId id="261" r:id="rId3"/>
    <p:sldId id="262" r:id="rId4"/>
    <p:sldId id="263" r:id="rId5"/>
    <p:sldId id="264" r:id="rId6"/>
    <p:sldId id="265" r:id="rId7"/>
    <p:sldId id="266" r:id="rId8"/>
    <p:sldId id="26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17E0FC-0824-4682-AE40-4B9F0E7D9757}" type="datetimeFigureOut">
              <a:rPr lang="en-IN" smtClean="0"/>
              <a:t>07-04-2024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2217049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7E0FC-0824-4682-AE40-4B9F0E7D9757}" type="datetimeFigureOut">
              <a:rPr lang="en-IN" smtClean="0"/>
              <a:t>07-04-2024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1086605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7E0FC-0824-4682-AE40-4B9F0E7D9757}" type="datetimeFigureOut">
              <a:rPr lang="en-IN" smtClean="0"/>
              <a:t>07-04-2024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1778588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17E0FC-0824-4682-AE40-4B9F0E7D9757}" type="datetimeFigureOut">
              <a:rPr lang="en-IN" smtClean="0"/>
              <a:t>07-04-2024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674891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17E0FC-0824-4682-AE40-4B9F0E7D9757}" type="datetimeFigureOut">
              <a:rPr lang="en-IN" smtClean="0"/>
              <a:t>07-04-2024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2437167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17E0FC-0824-4682-AE40-4B9F0E7D9757}" type="datetimeFigureOut">
              <a:rPr lang="en-IN" smtClean="0"/>
              <a:t>07-04-2024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2708622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17E0FC-0824-4682-AE40-4B9F0E7D9757}" type="datetimeFigureOut">
              <a:rPr lang="en-IN" smtClean="0"/>
              <a:t>07-04-2024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37695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17E0FC-0824-4682-AE40-4B9F0E7D9757}" type="datetimeFigureOut">
              <a:rPr lang="en-IN" smtClean="0"/>
              <a:t>07-04-2024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3241958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17E0FC-0824-4682-AE40-4B9F0E7D9757}" type="datetimeFigureOut">
              <a:rPr lang="en-IN" smtClean="0"/>
              <a:t>07-04-2024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2349583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7E0FC-0824-4682-AE40-4B9F0E7D9757}" type="datetimeFigureOut">
              <a:rPr lang="en-IN" smtClean="0"/>
              <a:t>07-04-2024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196630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7E0FC-0824-4682-AE40-4B9F0E7D9757}" type="datetimeFigureOut">
              <a:rPr lang="en-IN" smtClean="0"/>
              <a:t>07-04-2024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A90D67-D457-4D3C-B974-09C23DF1F79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44058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C17E0FC-0824-4682-AE40-4B9F0E7D9757}" type="datetimeFigureOut">
              <a:rPr lang="en-IN" smtClean="0"/>
              <a:t>07-04-2024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3806520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C17E0FC-0824-4682-AE40-4B9F0E7D9757}" type="datetimeFigureOut">
              <a:rPr lang="en-IN" smtClean="0"/>
              <a:t>07-04-2024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A90D67-D457-4D3C-B974-09C23DF1F79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12158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C17E0FC-0824-4682-AE40-4B9F0E7D9757}" type="datetimeFigureOut">
              <a:rPr lang="en-IN" smtClean="0"/>
              <a:t>07-04-2024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3497800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7E0FC-0824-4682-AE40-4B9F0E7D9757}" type="datetimeFigureOut">
              <a:rPr lang="en-IN" smtClean="0"/>
              <a:t>07-04-2024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468617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7E0FC-0824-4682-AE40-4B9F0E7D9757}" type="datetimeFigureOut">
              <a:rPr lang="en-IN" smtClean="0"/>
              <a:t>07-04-2024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A90D67-D457-4D3C-B974-09C23DF1F79B}" type="slidenum">
              <a:rPr lang="en-IN" smtClean="0"/>
              <a:t>‹#›</a:t>
            </a:fld>
            <a:endParaRPr lang="en-IN"/>
          </a:p>
        </p:txBody>
      </p:sp>
    </p:spTree>
    <p:extLst>
      <p:ext uri="{BB962C8B-B14F-4D97-AF65-F5344CB8AC3E}">
        <p14:creationId xmlns:p14="http://schemas.microsoft.com/office/powerpoint/2010/main" val="1317940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C17E0FC-0824-4682-AE40-4B9F0E7D9757}" type="datetimeFigureOut">
              <a:rPr lang="en-IN" smtClean="0"/>
              <a:t>07-04-2024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A90D67-D457-4D3C-B974-09C23DF1F79B}" type="slidenum">
              <a:rPr lang="en-IN" smtClean="0"/>
              <a:t>‹#›</a:t>
            </a:fld>
            <a:endParaRPr lang="en-IN"/>
          </a:p>
        </p:txBody>
      </p:sp>
    </p:spTree>
    <p:extLst>
      <p:ext uri="{BB962C8B-B14F-4D97-AF65-F5344CB8AC3E}">
        <p14:creationId xmlns:p14="http://schemas.microsoft.com/office/powerpoint/2010/main" val="3172320817"/>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nxtbookmedia.com/blog/university-alumni-magazine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78C1-C7F0-A97C-8AFC-0EE428F0D40A}"/>
              </a:ext>
            </a:extLst>
          </p:cNvPr>
          <p:cNvSpPr>
            <a:spLocks noGrp="1"/>
          </p:cNvSpPr>
          <p:nvPr>
            <p:ph type="ctrTitle"/>
          </p:nvPr>
        </p:nvSpPr>
        <p:spPr>
          <a:xfrm>
            <a:off x="2589213" y="954338"/>
            <a:ext cx="8915399" cy="2474661"/>
          </a:xfrm>
        </p:spPr>
        <p:txBody>
          <a:bodyPr>
            <a:normAutofit/>
          </a:bodyPr>
          <a:lstStyle/>
          <a:p>
            <a:r>
              <a:rPr lang="en-US" sz="3600" i="1" dirty="0">
                <a:solidFill>
                  <a:schemeClr val="tx1"/>
                </a:solidFill>
              </a:rPr>
              <a:t>Project topic </a:t>
            </a:r>
            <a:br>
              <a:rPr lang="en-US" i="1" dirty="0">
                <a:solidFill>
                  <a:schemeClr val="tx1"/>
                </a:solidFill>
              </a:rPr>
            </a:br>
            <a:r>
              <a:rPr lang="en-US" b="1" i="1" dirty="0">
                <a:solidFill>
                  <a:srgbClr val="C00000"/>
                </a:solidFill>
              </a:rPr>
              <a:t>               </a:t>
            </a:r>
            <a:r>
              <a:rPr lang="en-US" b="1" i="1" dirty="0">
                <a:solidFill>
                  <a:srgbClr val="C00000"/>
                </a:solidFill>
                <a:latin typeface="Times New Roman" panose="02020603050405020304" pitchFamily="18" charset="0"/>
                <a:cs typeface="Times New Roman" panose="02020603050405020304" pitchFamily="18" charset="0"/>
              </a:rPr>
              <a:t>“e</a:t>
            </a:r>
            <a:r>
              <a:rPr lang="en-US" b="1" i="1" u="sng" dirty="0">
                <a:solidFill>
                  <a:srgbClr val="C00000"/>
                </a:solidFill>
                <a:latin typeface="Times New Roman" panose="02020603050405020304" pitchFamily="18" charset="0"/>
                <a:cs typeface="Times New Roman" panose="02020603050405020304" pitchFamily="18" charset="0"/>
              </a:rPr>
              <a:t>Ambar</a:t>
            </a:r>
            <a:r>
              <a:rPr lang="en-US" b="1" i="1" dirty="0">
                <a:solidFill>
                  <a:srgbClr val="C00000"/>
                </a:solidFill>
                <a:latin typeface="Times New Roman" panose="02020603050405020304" pitchFamily="18" charset="0"/>
                <a:cs typeface="Times New Roman" panose="02020603050405020304" pitchFamily="18" charset="0"/>
              </a:rPr>
              <a:t>” </a:t>
            </a:r>
            <a:endParaRPr lang="en-IN" b="1" i="1" dirty="0">
              <a:solidFill>
                <a:srgbClr val="C0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5F1399B-51FF-D146-64FE-502D0DF93FD1}"/>
              </a:ext>
            </a:extLst>
          </p:cNvPr>
          <p:cNvSpPr>
            <a:spLocks noGrp="1"/>
          </p:cNvSpPr>
          <p:nvPr>
            <p:ph type="subTitle" idx="1"/>
          </p:nvPr>
        </p:nvSpPr>
        <p:spPr>
          <a:xfrm>
            <a:off x="2589213" y="3677265"/>
            <a:ext cx="8915399" cy="2226397"/>
          </a:xfrm>
        </p:spPr>
        <p:txBody>
          <a:bodyPr>
            <a:normAutofit/>
          </a:bodyPr>
          <a:lstStyle/>
          <a:p>
            <a:pPr algn="r"/>
            <a:r>
              <a:rPr lang="en-IN" sz="3200" dirty="0"/>
              <a:t>presented by</a:t>
            </a:r>
            <a:r>
              <a:rPr lang="en-US" sz="3200" dirty="0"/>
              <a:t>-</a:t>
            </a:r>
          </a:p>
          <a:p>
            <a:pPr algn="r"/>
            <a:r>
              <a:rPr lang="en-US" sz="3200" dirty="0"/>
              <a:t>                          Maithili Dudhane</a:t>
            </a:r>
          </a:p>
          <a:p>
            <a:pPr algn="r"/>
            <a:r>
              <a:rPr lang="en-US" sz="3200" dirty="0"/>
              <a:t>                          Muskan Mujawar</a:t>
            </a:r>
            <a:endParaRPr lang="en-IN" sz="3200" dirty="0"/>
          </a:p>
        </p:txBody>
      </p:sp>
    </p:spTree>
    <p:extLst>
      <p:ext uri="{BB962C8B-B14F-4D97-AF65-F5344CB8AC3E}">
        <p14:creationId xmlns:p14="http://schemas.microsoft.com/office/powerpoint/2010/main" val="808241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D46D-721D-F731-3546-245E04E75ABF}"/>
              </a:ext>
            </a:extLst>
          </p:cNvPr>
          <p:cNvSpPr>
            <a:spLocks noGrp="1"/>
          </p:cNvSpPr>
          <p:nvPr>
            <p:ph type="title"/>
          </p:nvPr>
        </p:nvSpPr>
        <p:spPr/>
        <p:txBody>
          <a:bodyPr>
            <a:normAutofit/>
          </a:bodyPr>
          <a:lstStyle/>
          <a:p>
            <a:r>
              <a:rPr lang="en-US" sz="4800" dirty="0">
                <a:solidFill>
                  <a:srgbClr val="C00000"/>
                </a:solidFill>
              </a:rPr>
              <a:t>Introduction</a:t>
            </a:r>
            <a:endParaRPr lang="en-IN" sz="4800" dirty="0">
              <a:solidFill>
                <a:srgbClr val="C00000"/>
              </a:solidFill>
            </a:endParaRPr>
          </a:p>
        </p:txBody>
      </p:sp>
      <p:sp>
        <p:nvSpPr>
          <p:cNvPr id="3" name="Content Placeholder 2">
            <a:extLst>
              <a:ext uri="{FF2B5EF4-FFF2-40B4-BE49-F238E27FC236}">
                <a16:creationId xmlns:a16="http://schemas.microsoft.com/office/drawing/2014/main" id="{8EF803C0-9B1D-31AC-5BF1-7F9B1811A507}"/>
              </a:ext>
            </a:extLst>
          </p:cNvPr>
          <p:cNvSpPr>
            <a:spLocks noGrp="1"/>
          </p:cNvSpPr>
          <p:nvPr>
            <p:ph idx="1"/>
          </p:nvPr>
        </p:nvSpPr>
        <p:spPr/>
        <p:txBody>
          <a:bodyPr>
            <a:normAutofit fontScale="92500"/>
          </a:bodyPr>
          <a:lstStyle/>
          <a:p>
            <a:r>
              <a:rPr lang="en-US" sz="4800" b="1" dirty="0">
                <a:solidFill>
                  <a:srgbClr val="C00000"/>
                </a:solidFill>
              </a:rPr>
              <a:t>“</a:t>
            </a:r>
            <a:r>
              <a:rPr lang="en-US" sz="4800" b="1" dirty="0">
                <a:solidFill>
                  <a:srgbClr val="C00000"/>
                </a:solidFill>
                <a:latin typeface="Times New Roman" panose="02020603050405020304" pitchFamily="18" charset="0"/>
                <a:cs typeface="Times New Roman" panose="02020603050405020304" pitchFamily="18" charset="0"/>
              </a:rPr>
              <a:t>eAmbar</a:t>
            </a:r>
            <a:r>
              <a:rPr lang="en-US" sz="4800" b="1" dirty="0">
                <a:solidFill>
                  <a:srgbClr val="C00000"/>
                </a:solidFill>
              </a:rPr>
              <a:t>” </a:t>
            </a:r>
            <a:r>
              <a:rPr lang="en-US" sz="2600" dirty="0"/>
              <a:t>the official college magazine of DKTE</a:t>
            </a:r>
          </a:p>
          <a:p>
            <a:r>
              <a:rPr lang="en-US" sz="2600" dirty="0"/>
              <a:t>Day’s Back the Ambar is inaccessible online to upload the things online and view the things that the user wants in less amount of time.</a:t>
            </a:r>
          </a:p>
          <a:p>
            <a:r>
              <a:rPr lang="en-US" sz="2600" dirty="0"/>
              <a:t>And it engage most time of faculty's to utilize and managing the things. </a:t>
            </a:r>
          </a:p>
          <a:p>
            <a:r>
              <a:rPr lang="en-US" sz="2600" dirty="0"/>
              <a:t>For that reason we are creating “</a:t>
            </a:r>
            <a:r>
              <a:rPr lang="en-US" sz="2600" u="sng" dirty="0"/>
              <a:t>Ambar</a:t>
            </a:r>
            <a:r>
              <a:rPr lang="en-US" sz="2600" dirty="0"/>
              <a:t>” eMagazine</a:t>
            </a:r>
            <a:endParaRPr lang="en-IN" sz="2600" dirty="0"/>
          </a:p>
          <a:p>
            <a:pPr marL="0" indent="0">
              <a:buNone/>
            </a:pPr>
            <a:endParaRPr lang="en-US" sz="2800" dirty="0"/>
          </a:p>
        </p:txBody>
      </p:sp>
    </p:spTree>
    <p:extLst>
      <p:ext uri="{BB962C8B-B14F-4D97-AF65-F5344CB8AC3E}">
        <p14:creationId xmlns:p14="http://schemas.microsoft.com/office/powerpoint/2010/main" val="1599383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1454-330A-974D-972D-9C6970C94CF6}"/>
              </a:ext>
            </a:extLst>
          </p:cNvPr>
          <p:cNvSpPr>
            <a:spLocks noGrp="1"/>
          </p:cNvSpPr>
          <p:nvPr>
            <p:ph type="title"/>
          </p:nvPr>
        </p:nvSpPr>
        <p:spPr/>
        <p:txBody>
          <a:bodyPr>
            <a:normAutofit/>
          </a:bodyPr>
          <a:lstStyle/>
          <a:p>
            <a:r>
              <a:rPr lang="en-US" sz="4800" dirty="0">
                <a:solidFill>
                  <a:srgbClr val="C00000"/>
                </a:solidFill>
              </a:rPr>
              <a:t>Scope of Project</a:t>
            </a:r>
            <a:endParaRPr lang="en-IN" sz="4800" dirty="0">
              <a:solidFill>
                <a:srgbClr val="C00000"/>
              </a:solidFill>
            </a:endParaRPr>
          </a:p>
        </p:txBody>
      </p:sp>
      <p:sp>
        <p:nvSpPr>
          <p:cNvPr id="3" name="Content Placeholder 2">
            <a:extLst>
              <a:ext uri="{FF2B5EF4-FFF2-40B4-BE49-F238E27FC236}">
                <a16:creationId xmlns:a16="http://schemas.microsoft.com/office/drawing/2014/main" id="{CC4ED855-9CD0-015A-E7DF-2E66F51E136D}"/>
              </a:ext>
            </a:extLst>
          </p:cNvPr>
          <p:cNvSpPr>
            <a:spLocks noGrp="1"/>
          </p:cNvSpPr>
          <p:nvPr>
            <p:ph idx="1"/>
          </p:nvPr>
        </p:nvSpPr>
        <p:spPr>
          <a:xfrm>
            <a:off x="2589212" y="1740310"/>
            <a:ext cx="8915400" cy="4170912"/>
          </a:xfrm>
        </p:spPr>
        <p:txBody>
          <a:bodyPr>
            <a:noAutofit/>
          </a:bodyPr>
          <a:lstStyle/>
          <a:p>
            <a:r>
              <a:rPr lang="en-US" sz="2400" dirty="0"/>
              <a:t>Digital publishing represents a massive opportunity for traditional publishers like students</a:t>
            </a:r>
            <a:r>
              <a:rPr lang="en-IN" sz="2400" dirty="0"/>
              <a:t>.</a:t>
            </a:r>
          </a:p>
          <a:p>
            <a:r>
              <a:rPr lang="en-US" sz="2400" b="0" i="0" dirty="0">
                <a:effectLst/>
              </a:rPr>
              <a:t>Lets consider, If student send out paper collateral or printed publications, they have no way of knowing what happens once they’re in readers’ hands.</a:t>
            </a:r>
          </a:p>
          <a:p>
            <a:r>
              <a:rPr lang="en-US" sz="2400" b="0" i="0" dirty="0">
                <a:effectLst/>
              </a:rPr>
              <a:t> With an online magazine on the right publishing platform, they can get detailed analytics. To See how long readers engage with their articles and what pages they spend their time reading.</a:t>
            </a:r>
          </a:p>
          <a:p>
            <a:r>
              <a:rPr lang="en-US" sz="2400" b="0" i="0" dirty="0">
                <a:effectLst/>
              </a:rPr>
              <a:t> These metrics give students immediate feedback so they can create more impactful content with every issue.</a:t>
            </a:r>
            <a:endParaRPr lang="en-US" sz="2400" dirty="0"/>
          </a:p>
        </p:txBody>
      </p:sp>
    </p:spTree>
    <p:extLst>
      <p:ext uri="{BB962C8B-B14F-4D97-AF65-F5344CB8AC3E}">
        <p14:creationId xmlns:p14="http://schemas.microsoft.com/office/powerpoint/2010/main" val="3769529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DA2AF-A220-C88B-2F15-C57975EB4C5F}"/>
              </a:ext>
            </a:extLst>
          </p:cNvPr>
          <p:cNvSpPr>
            <a:spLocks noGrp="1"/>
          </p:cNvSpPr>
          <p:nvPr>
            <p:ph type="title"/>
          </p:nvPr>
        </p:nvSpPr>
        <p:spPr/>
        <p:txBody>
          <a:bodyPr>
            <a:normAutofit/>
          </a:bodyPr>
          <a:lstStyle/>
          <a:p>
            <a:r>
              <a:rPr lang="en-US" sz="4800" dirty="0">
                <a:solidFill>
                  <a:srgbClr val="C00000"/>
                </a:solidFill>
              </a:rPr>
              <a:t>Advantages</a:t>
            </a:r>
            <a:endParaRPr lang="en-IN" sz="4800" dirty="0">
              <a:solidFill>
                <a:srgbClr val="C00000"/>
              </a:solidFill>
            </a:endParaRPr>
          </a:p>
        </p:txBody>
      </p:sp>
      <p:sp>
        <p:nvSpPr>
          <p:cNvPr id="3" name="Content Placeholder 2">
            <a:extLst>
              <a:ext uri="{FF2B5EF4-FFF2-40B4-BE49-F238E27FC236}">
                <a16:creationId xmlns:a16="http://schemas.microsoft.com/office/drawing/2014/main" id="{96F63050-BC5B-91CC-9B54-8C7EB499ADB0}"/>
              </a:ext>
            </a:extLst>
          </p:cNvPr>
          <p:cNvSpPr>
            <a:spLocks noGrp="1"/>
          </p:cNvSpPr>
          <p:nvPr>
            <p:ph idx="1"/>
          </p:nvPr>
        </p:nvSpPr>
        <p:spPr/>
        <p:txBody>
          <a:bodyPr>
            <a:normAutofit fontScale="92500" lnSpcReduction="20000"/>
          </a:bodyPr>
          <a:lstStyle/>
          <a:p>
            <a:r>
              <a:rPr lang="en-US" sz="2600" b="0" i="0" dirty="0">
                <a:effectLst/>
              </a:rPr>
              <a:t>Starting a online magazine in college can be a great way to showcase the talent and creativity of fellow students.</a:t>
            </a:r>
          </a:p>
          <a:p>
            <a:r>
              <a:rPr lang="en-US" sz="2600"/>
              <a:t>College</a:t>
            </a:r>
            <a:r>
              <a:rPr lang="en-US" sz="2600" b="0" i="0">
                <a:effectLst/>
              </a:rPr>
              <a:t> </a:t>
            </a:r>
            <a:r>
              <a:rPr lang="en-US" sz="2600" b="0" i="0" dirty="0">
                <a:effectLst/>
              </a:rPr>
              <a:t>can use digital magazines for alumni news or general marketing purposes. </a:t>
            </a:r>
          </a:p>
          <a:p>
            <a:r>
              <a:rPr lang="en-US" sz="2600" dirty="0"/>
              <a:t>Articals </a:t>
            </a:r>
            <a:r>
              <a:rPr lang="en-US" sz="2600" b="0" i="0" dirty="0">
                <a:effectLst/>
              </a:rPr>
              <a:t>Published regularly, that assets can </a:t>
            </a:r>
            <a:r>
              <a:rPr lang="en-US" sz="2600" b="0" i="0" strike="noStrike" dirty="0">
                <a:effectLst/>
                <a:hlinkClick r:id="rId2">
                  <a:extLst>
                    <a:ext uri="{A12FA001-AC4F-418D-AE19-62706E023703}">
                      <ahyp:hlinkClr xmlns:ahyp="http://schemas.microsoft.com/office/drawing/2018/hyperlinkcolor" val="tx"/>
                    </a:ext>
                  </a:extLst>
                </a:hlinkClick>
              </a:rPr>
              <a:t>deliver campus news to alumni</a:t>
            </a:r>
            <a:r>
              <a:rPr lang="en-US" sz="2600" b="0" i="0" dirty="0">
                <a:effectLst/>
              </a:rPr>
              <a:t>, students, professors, and other stakeholders.</a:t>
            </a:r>
          </a:p>
          <a:p>
            <a:r>
              <a:rPr lang="en-IN" sz="2600" dirty="0"/>
              <a:t>Most important advantage is</a:t>
            </a:r>
            <a:r>
              <a:rPr lang="en-US" sz="2600" b="0" i="0" dirty="0">
                <a:effectLst/>
              </a:rPr>
              <a:t> online magazine is an excellent way to engage members</a:t>
            </a:r>
            <a:r>
              <a:rPr lang="en-US" sz="2800" b="0" i="0" dirty="0">
                <a:effectLst/>
              </a:rPr>
              <a:t>.</a:t>
            </a:r>
            <a:endParaRPr lang="en-IN" sz="2800" dirty="0"/>
          </a:p>
        </p:txBody>
      </p:sp>
    </p:spTree>
    <p:extLst>
      <p:ext uri="{BB962C8B-B14F-4D97-AF65-F5344CB8AC3E}">
        <p14:creationId xmlns:p14="http://schemas.microsoft.com/office/powerpoint/2010/main" val="929548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F9A2D-1218-7E29-1046-C657BB84D3AE}"/>
              </a:ext>
            </a:extLst>
          </p:cNvPr>
          <p:cNvSpPr>
            <a:spLocks noGrp="1"/>
          </p:cNvSpPr>
          <p:nvPr>
            <p:ph type="title"/>
          </p:nvPr>
        </p:nvSpPr>
        <p:spPr/>
        <p:txBody>
          <a:bodyPr>
            <a:normAutofit/>
          </a:bodyPr>
          <a:lstStyle/>
          <a:p>
            <a:r>
              <a:rPr lang="en-US" sz="4800" dirty="0">
                <a:solidFill>
                  <a:srgbClr val="C00000"/>
                </a:solidFill>
              </a:rPr>
              <a:t>Limitations</a:t>
            </a:r>
            <a:endParaRPr lang="en-IN" sz="4800" dirty="0"/>
          </a:p>
        </p:txBody>
      </p:sp>
      <p:sp>
        <p:nvSpPr>
          <p:cNvPr id="3" name="Content Placeholder 2">
            <a:extLst>
              <a:ext uri="{FF2B5EF4-FFF2-40B4-BE49-F238E27FC236}">
                <a16:creationId xmlns:a16="http://schemas.microsoft.com/office/drawing/2014/main" id="{F445D2CB-8FBF-3284-77F6-5D9488BC2591}"/>
              </a:ext>
            </a:extLst>
          </p:cNvPr>
          <p:cNvSpPr>
            <a:spLocks noGrp="1"/>
          </p:cNvSpPr>
          <p:nvPr>
            <p:ph idx="1"/>
          </p:nvPr>
        </p:nvSpPr>
        <p:spPr/>
        <p:txBody>
          <a:bodyPr>
            <a:normAutofit/>
          </a:bodyPr>
          <a:lstStyle/>
          <a:p>
            <a:r>
              <a:rPr lang="en-US" sz="2400" dirty="0"/>
              <a:t>Along with the Advantages we also have the limitations for creating the digital view to collage magazine, Is that we </a:t>
            </a:r>
            <a:r>
              <a:rPr lang="en-IN" sz="2400" b="0" i="0" dirty="0">
                <a:effectLst/>
              </a:rPr>
              <a:t>unable to get each and every persons article's and show them on site we have limitation to show the some highlighted article’s only </a:t>
            </a:r>
            <a:r>
              <a:rPr lang="en-US" sz="2400" b="0" i="0" dirty="0">
                <a:effectLst/>
              </a:rPr>
              <a:t>.</a:t>
            </a:r>
            <a:endParaRPr lang="en-IN" sz="2400" b="0" i="0" dirty="0">
              <a:effectLst/>
            </a:endParaRPr>
          </a:p>
        </p:txBody>
      </p:sp>
    </p:spTree>
    <p:extLst>
      <p:ext uri="{BB962C8B-B14F-4D97-AF65-F5344CB8AC3E}">
        <p14:creationId xmlns:p14="http://schemas.microsoft.com/office/powerpoint/2010/main" val="2405277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A775-E0F1-214F-CBBF-B5BECFB18B41}"/>
              </a:ext>
            </a:extLst>
          </p:cNvPr>
          <p:cNvSpPr>
            <a:spLocks noGrp="1"/>
          </p:cNvSpPr>
          <p:nvPr>
            <p:ph type="title"/>
          </p:nvPr>
        </p:nvSpPr>
        <p:spPr/>
        <p:txBody>
          <a:bodyPr>
            <a:normAutofit/>
          </a:bodyPr>
          <a:lstStyle/>
          <a:p>
            <a:r>
              <a:rPr lang="en-US" sz="4800" dirty="0">
                <a:solidFill>
                  <a:srgbClr val="C00000"/>
                </a:solidFill>
              </a:rPr>
              <a:t>Future Scope</a:t>
            </a:r>
            <a:endParaRPr lang="en-IN" sz="4800" dirty="0">
              <a:solidFill>
                <a:srgbClr val="C00000"/>
              </a:solidFill>
            </a:endParaRPr>
          </a:p>
        </p:txBody>
      </p:sp>
      <p:sp>
        <p:nvSpPr>
          <p:cNvPr id="3" name="Content Placeholder 2">
            <a:extLst>
              <a:ext uri="{FF2B5EF4-FFF2-40B4-BE49-F238E27FC236}">
                <a16:creationId xmlns:a16="http://schemas.microsoft.com/office/drawing/2014/main" id="{F957BFA6-5DD0-BA60-E38D-D9B05AC1AF3E}"/>
              </a:ext>
            </a:extLst>
          </p:cNvPr>
          <p:cNvSpPr>
            <a:spLocks noGrp="1"/>
          </p:cNvSpPr>
          <p:nvPr>
            <p:ph idx="1"/>
          </p:nvPr>
        </p:nvSpPr>
        <p:spPr/>
        <p:txBody>
          <a:bodyPr>
            <a:normAutofit fontScale="92500" lnSpcReduction="20000"/>
          </a:bodyPr>
          <a:lstStyle/>
          <a:p>
            <a:r>
              <a:rPr lang="en-US" sz="3200" b="0" i="0" dirty="0">
                <a:solidFill>
                  <a:srgbClr val="666666"/>
                </a:solidFill>
                <a:effectLst/>
                <a:latin typeface="Lato" panose="020F0502020204030204" pitchFamily="34" charset="0"/>
              </a:rPr>
              <a:t> </a:t>
            </a:r>
            <a:r>
              <a:rPr lang="en-US" sz="2600" dirty="0">
                <a:solidFill>
                  <a:srgbClr val="666666"/>
                </a:solidFill>
                <a:latin typeface="Lato" panose="020F0502020204030204" pitchFamily="34" charset="0"/>
              </a:rPr>
              <a:t>I</a:t>
            </a:r>
            <a:r>
              <a:rPr lang="en-US" sz="2600" b="0" i="0" dirty="0">
                <a:effectLst/>
              </a:rPr>
              <a:t>t is economically more viable. Further, it is an eco-friendly approach, as it saves so much paper, which in turn helps in conserving many trees. With the smartphone and personal computer, today the digital version of the magazine is accessible to more people at their fingertips.</a:t>
            </a:r>
          </a:p>
          <a:p>
            <a:r>
              <a:rPr lang="en-US" sz="2600" b="0" i="0" dirty="0">
                <a:effectLst/>
              </a:rPr>
              <a:t>As the Internet content is rapidly growing, and hence, now it becomes competition for the eyes of readers. </a:t>
            </a:r>
            <a:r>
              <a:rPr lang="en-US" sz="2600" dirty="0"/>
              <a:t>So, </a:t>
            </a:r>
            <a:r>
              <a:rPr lang="en-US" sz="2600" b="0" i="0" dirty="0">
                <a:effectLst/>
              </a:rPr>
              <a:t>is the time to look beyond a printed books and embrace an interactive online magazine experience that truly garners the  audience’s attention.</a:t>
            </a:r>
          </a:p>
        </p:txBody>
      </p:sp>
    </p:spTree>
    <p:extLst>
      <p:ext uri="{BB962C8B-B14F-4D97-AF65-F5344CB8AC3E}">
        <p14:creationId xmlns:p14="http://schemas.microsoft.com/office/powerpoint/2010/main" val="1701602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B808B-475F-6DC6-0931-B220323EAE8B}"/>
              </a:ext>
            </a:extLst>
          </p:cNvPr>
          <p:cNvSpPr>
            <a:spLocks noGrp="1"/>
          </p:cNvSpPr>
          <p:nvPr>
            <p:ph type="title"/>
          </p:nvPr>
        </p:nvSpPr>
        <p:spPr/>
        <p:txBody>
          <a:bodyPr>
            <a:normAutofit/>
          </a:bodyPr>
          <a:lstStyle/>
          <a:p>
            <a:r>
              <a:rPr lang="en-US" sz="4800" dirty="0">
                <a:solidFill>
                  <a:srgbClr val="C00000"/>
                </a:solidFill>
              </a:rPr>
              <a:t>Conclusion</a:t>
            </a:r>
            <a:endParaRPr lang="en-IN" sz="4800" dirty="0">
              <a:solidFill>
                <a:srgbClr val="C00000"/>
              </a:solidFill>
            </a:endParaRPr>
          </a:p>
        </p:txBody>
      </p:sp>
      <p:sp>
        <p:nvSpPr>
          <p:cNvPr id="3" name="Content Placeholder 2">
            <a:extLst>
              <a:ext uri="{FF2B5EF4-FFF2-40B4-BE49-F238E27FC236}">
                <a16:creationId xmlns:a16="http://schemas.microsoft.com/office/drawing/2014/main" id="{25A27691-413A-2A46-507A-63D1F8AD5C77}"/>
              </a:ext>
            </a:extLst>
          </p:cNvPr>
          <p:cNvSpPr>
            <a:spLocks noGrp="1"/>
          </p:cNvSpPr>
          <p:nvPr>
            <p:ph idx="1"/>
          </p:nvPr>
        </p:nvSpPr>
        <p:spPr/>
        <p:txBody>
          <a:bodyPr>
            <a:normAutofit/>
          </a:bodyPr>
          <a:lstStyle/>
          <a:p>
            <a:r>
              <a:rPr lang="en-US" sz="2400" dirty="0"/>
              <a:t>As we have seen the creation of the eMagazine would make the impressive impact on the students as well as it is beneficial for the college.</a:t>
            </a:r>
          </a:p>
          <a:p>
            <a:r>
              <a:rPr lang="en-US" sz="2400" dirty="0"/>
              <a:t> By creating the eMagazine we will see how the college progress happens year by year.</a:t>
            </a:r>
          </a:p>
        </p:txBody>
      </p:sp>
    </p:spTree>
    <p:extLst>
      <p:ext uri="{BB962C8B-B14F-4D97-AF65-F5344CB8AC3E}">
        <p14:creationId xmlns:p14="http://schemas.microsoft.com/office/powerpoint/2010/main" val="1708826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23535-7F6B-3350-0E61-AFB8EC270516}"/>
              </a:ext>
            </a:extLst>
          </p:cNvPr>
          <p:cNvSpPr>
            <a:spLocks noGrp="1"/>
          </p:cNvSpPr>
          <p:nvPr>
            <p:ph type="title"/>
          </p:nvPr>
        </p:nvSpPr>
        <p:spPr>
          <a:xfrm>
            <a:off x="2592924" y="1838632"/>
            <a:ext cx="8911687" cy="1396182"/>
          </a:xfrm>
        </p:spPr>
        <p:txBody>
          <a:bodyPr>
            <a:normAutofit/>
          </a:bodyPr>
          <a:lstStyle/>
          <a:p>
            <a:r>
              <a:rPr lang="en-US" sz="7200" dirty="0">
                <a:solidFill>
                  <a:srgbClr val="C00000"/>
                </a:solidFill>
              </a:rPr>
              <a:t>Thank You…</a:t>
            </a:r>
            <a:endParaRPr lang="en-IN" sz="7200" dirty="0">
              <a:solidFill>
                <a:srgbClr val="C00000"/>
              </a:solidFill>
            </a:endParaRPr>
          </a:p>
        </p:txBody>
      </p:sp>
    </p:spTree>
    <p:extLst>
      <p:ext uri="{BB962C8B-B14F-4D97-AF65-F5344CB8AC3E}">
        <p14:creationId xmlns:p14="http://schemas.microsoft.com/office/powerpoint/2010/main" val="127582489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198</TotalTime>
  <Words>438</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Century Gothic</vt:lpstr>
      <vt:lpstr>Lato</vt:lpstr>
      <vt:lpstr>Times New Roman</vt:lpstr>
      <vt:lpstr>Wingdings 3</vt:lpstr>
      <vt:lpstr>Wisp</vt:lpstr>
      <vt:lpstr>Project topic                 “eAmbar” </vt:lpstr>
      <vt:lpstr>Introduction</vt:lpstr>
      <vt:lpstr>Scope of Project</vt:lpstr>
      <vt:lpstr>Advantages</vt:lpstr>
      <vt:lpstr>Limitations</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Ambar </dc:title>
  <dc:creator>MAITHILI DUDHANE</dc:creator>
  <cp:lastModifiedBy>MAITHILI DUDHANE</cp:lastModifiedBy>
  <cp:revision>10</cp:revision>
  <dcterms:created xsi:type="dcterms:W3CDTF">2024-04-06T01:13:42Z</dcterms:created>
  <dcterms:modified xsi:type="dcterms:W3CDTF">2024-04-07T13:53:53Z</dcterms:modified>
</cp:coreProperties>
</file>